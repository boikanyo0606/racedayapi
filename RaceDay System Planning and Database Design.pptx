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C168E5-4382-4A11-9699-CBBC42274D2B}" type="doc">
      <dgm:prSet loTypeId="urn:microsoft.com/office/officeart/2018/2/layout/IconVerticalSolidList" loCatId="icon" qsTypeId="urn:microsoft.com/office/officeart/2005/8/quickstyle/simple1#1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A885DC9-3564-405C-AA3A-DCE7F8A2B55C}">
      <dgm:prSet/>
      <dgm:spPr/>
      <dgm:t>
        <a:bodyPr/>
        <a:lstStyle/>
        <a:p>
          <a:r>
            <a:rPr lang="en-ZA" b="1"/>
            <a:t>Title:</a:t>
          </a:r>
          <a:r>
            <a:rPr lang="en-ZA"/>
            <a:t> RaceDay System Planning &amp; Database Design </a:t>
          </a:r>
          <a:endParaRPr lang="en-US"/>
        </a:p>
      </dgm:t>
    </dgm:pt>
    <dgm:pt modelId="{0E9F1CEC-BEA0-4EBC-AC1D-B7FFB4AF2989}" type="parTrans" cxnId="{53EDBED6-8083-4206-AF3B-03C7E784CD03}">
      <dgm:prSet/>
      <dgm:spPr/>
      <dgm:t>
        <a:bodyPr/>
        <a:lstStyle/>
        <a:p>
          <a:endParaRPr lang="en-US"/>
        </a:p>
      </dgm:t>
    </dgm:pt>
    <dgm:pt modelId="{C6EED11D-242E-4565-BBBD-D215D8297FDD}" type="sibTrans" cxnId="{53EDBED6-8083-4206-AF3B-03C7E784CD03}">
      <dgm:prSet/>
      <dgm:spPr/>
      <dgm:t>
        <a:bodyPr/>
        <a:lstStyle/>
        <a:p>
          <a:endParaRPr lang="en-US"/>
        </a:p>
      </dgm:t>
    </dgm:pt>
    <dgm:pt modelId="{38711399-05EF-406F-B0BF-EF2716C532A5}">
      <dgm:prSet/>
      <dgm:spPr/>
      <dgm:t>
        <a:bodyPr/>
        <a:lstStyle/>
        <a:p>
          <a:r>
            <a:rPr lang="en-ZA" b="1"/>
            <a:t>Subtitle:</a:t>
          </a:r>
          <a:r>
            <a:rPr lang="en-ZA"/>
            <a:t> Part 1 - System Planning, ERD, API Endpoints, and SQL Schema</a:t>
          </a:r>
          <a:endParaRPr lang="en-US"/>
        </a:p>
      </dgm:t>
    </dgm:pt>
    <dgm:pt modelId="{6C95AE85-9999-439F-AF79-32E36C77BBB9}" type="parTrans" cxnId="{30A86BC1-DA4F-48A4-B38E-AD17298EEE5D}">
      <dgm:prSet/>
      <dgm:spPr/>
      <dgm:t>
        <a:bodyPr/>
        <a:lstStyle/>
        <a:p>
          <a:endParaRPr lang="en-US"/>
        </a:p>
      </dgm:t>
    </dgm:pt>
    <dgm:pt modelId="{DD7845D0-2328-47BC-A6C4-9BEDF0DE8B7C}" type="sibTrans" cxnId="{30A86BC1-DA4F-48A4-B38E-AD17298EEE5D}">
      <dgm:prSet/>
      <dgm:spPr/>
      <dgm:t>
        <a:bodyPr/>
        <a:lstStyle/>
        <a:p>
          <a:endParaRPr lang="en-US"/>
        </a:p>
      </dgm:t>
    </dgm:pt>
    <dgm:pt modelId="{59BB5149-BC82-4AFA-AB80-90A82F60392A}">
      <dgm:prSet/>
      <dgm:spPr/>
      <dgm:t>
        <a:bodyPr/>
        <a:lstStyle/>
        <a:p>
          <a:r>
            <a:rPr lang="en-ZA" b="1"/>
            <a:t>Presenter:</a:t>
          </a:r>
          <a:r>
            <a:rPr lang="en-ZA"/>
            <a:t> Boikanyo Maleka </a:t>
          </a:r>
          <a:endParaRPr lang="en-US"/>
        </a:p>
      </dgm:t>
    </dgm:pt>
    <dgm:pt modelId="{2A2F1FDE-4365-4ED2-896E-134518674F09}" type="parTrans" cxnId="{9EE93DFD-DB77-4C0C-B3CA-620DB5722D17}">
      <dgm:prSet/>
      <dgm:spPr/>
      <dgm:t>
        <a:bodyPr/>
        <a:lstStyle/>
        <a:p>
          <a:endParaRPr lang="en-US"/>
        </a:p>
      </dgm:t>
    </dgm:pt>
    <dgm:pt modelId="{EABFFA6A-8385-4E5B-8E7E-22A6D8806592}" type="sibTrans" cxnId="{9EE93DFD-DB77-4C0C-B3CA-620DB5722D17}">
      <dgm:prSet/>
      <dgm:spPr/>
      <dgm:t>
        <a:bodyPr/>
        <a:lstStyle/>
        <a:p>
          <a:endParaRPr lang="en-US"/>
        </a:p>
      </dgm:t>
    </dgm:pt>
    <dgm:pt modelId="{744B54CD-608B-4053-AA23-DA480CEE7290}">
      <dgm:prSet/>
      <dgm:spPr/>
      <dgm:t>
        <a:bodyPr/>
        <a:lstStyle/>
        <a:p>
          <a:r>
            <a:rPr lang="en-ZA" b="1"/>
            <a:t>Student Number:</a:t>
          </a:r>
          <a:r>
            <a:rPr lang="en-ZA"/>
            <a:t> ST10472664</a:t>
          </a:r>
          <a:endParaRPr lang="en-US"/>
        </a:p>
      </dgm:t>
    </dgm:pt>
    <dgm:pt modelId="{D825F976-D0BF-417B-92BD-3CE2EF3A51C5}" type="parTrans" cxnId="{DA7747B3-31A7-48B0-91C2-5DDE4863F4BF}">
      <dgm:prSet/>
      <dgm:spPr/>
      <dgm:t>
        <a:bodyPr/>
        <a:lstStyle/>
        <a:p>
          <a:endParaRPr lang="en-US"/>
        </a:p>
      </dgm:t>
    </dgm:pt>
    <dgm:pt modelId="{EF91B9B0-8640-4095-B029-ED8118066BCF}" type="sibTrans" cxnId="{DA7747B3-31A7-48B0-91C2-5DDE4863F4BF}">
      <dgm:prSet/>
      <dgm:spPr/>
      <dgm:t>
        <a:bodyPr/>
        <a:lstStyle/>
        <a:p>
          <a:endParaRPr lang="en-US"/>
        </a:p>
      </dgm:t>
    </dgm:pt>
    <dgm:pt modelId="{C5D2687F-0109-4B14-A266-F2D598109CEC}">
      <dgm:prSet/>
      <dgm:spPr/>
      <dgm:t>
        <a:bodyPr/>
        <a:lstStyle/>
        <a:p>
          <a:r>
            <a:rPr lang="en-ZA" b="1"/>
            <a:t>Date:</a:t>
          </a:r>
          <a:r>
            <a:rPr lang="en-ZA"/>
            <a:t> 04 September 2026</a:t>
          </a:r>
          <a:endParaRPr lang="en-US"/>
        </a:p>
      </dgm:t>
    </dgm:pt>
    <dgm:pt modelId="{F62C1BD0-3928-485A-9D55-48C06B1F9FB3}" type="parTrans" cxnId="{71E3ED01-5306-4A9E-9B4A-FB869DD863AD}">
      <dgm:prSet/>
      <dgm:spPr/>
      <dgm:t>
        <a:bodyPr/>
        <a:lstStyle/>
        <a:p>
          <a:endParaRPr lang="en-US"/>
        </a:p>
      </dgm:t>
    </dgm:pt>
    <dgm:pt modelId="{93A499BC-B0C3-4FBA-9C78-0C82019295DF}" type="sibTrans" cxnId="{71E3ED01-5306-4A9E-9B4A-FB869DD863AD}">
      <dgm:prSet/>
      <dgm:spPr/>
      <dgm:t>
        <a:bodyPr/>
        <a:lstStyle/>
        <a:p>
          <a:endParaRPr lang="en-US"/>
        </a:p>
      </dgm:t>
    </dgm:pt>
    <dgm:pt modelId="{6E0564D7-ED7D-4EFF-B481-E79FC625171F}" type="pres">
      <dgm:prSet presAssocID="{48C168E5-4382-4A11-9699-CBBC42274D2B}" presName="root" presStyleCnt="0">
        <dgm:presLayoutVars>
          <dgm:dir/>
          <dgm:resizeHandles val="exact"/>
        </dgm:presLayoutVars>
      </dgm:prSet>
      <dgm:spPr/>
    </dgm:pt>
    <dgm:pt modelId="{23A427C0-F7D1-4052-8B2A-B3A5E12208BC}" type="pres">
      <dgm:prSet presAssocID="{7A885DC9-3564-405C-AA3A-DCE7F8A2B55C}" presName="compNode" presStyleCnt="0"/>
      <dgm:spPr/>
    </dgm:pt>
    <dgm:pt modelId="{74FDFF20-A7AA-48E9-88D1-AD4DB8243BF1}" type="pres">
      <dgm:prSet presAssocID="{7A885DC9-3564-405C-AA3A-DCE7F8A2B55C}" presName="bgRect" presStyleLbl="bgShp" presStyleIdx="0" presStyleCnt="5"/>
      <dgm:spPr/>
    </dgm:pt>
    <dgm:pt modelId="{661C9D71-BDCB-4EAE-829C-823A26DC37C9}" type="pres">
      <dgm:prSet presAssocID="{7A885DC9-3564-405C-AA3A-DCE7F8A2B55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BE5F346-80AB-400C-BD49-9D67E998FFF8}" type="pres">
      <dgm:prSet presAssocID="{7A885DC9-3564-405C-AA3A-DCE7F8A2B55C}" presName="spaceRect" presStyleCnt="0"/>
      <dgm:spPr/>
    </dgm:pt>
    <dgm:pt modelId="{89D88402-099B-4F23-8EC2-65B32E9DA618}" type="pres">
      <dgm:prSet presAssocID="{7A885DC9-3564-405C-AA3A-DCE7F8A2B55C}" presName="parTx" presStyleLbl="revTx" presStyleIdx="0" presStyleCnt="5">
        <dgm:presLayoutVars>
          <dgm:chMax val="0"/>
          <dgm:chPref val="0"/>
        </dgm:presLayoutVars>
      </dgm:prSet>
      <dgm:spPr/>
    </dgm:pt>
    <dgm:pt modelId="{872C3285-E37A-4D8C-8A66-B9F2CA12F96F}" type="pres">
      <dgm:prSet presAssocID="{C6EED11D-242E-4565-BBBD-D215D8297FDD}" presName="sibTrans" presStyleCnt="0"/>
      <dgm:spPr/>
    </dgm:pt>
    <dgm:pt modelId="{26A5D138-3B55-4071-B551-35BC23C7D58B}" type="pres">
      <dgm:prSet presAssocID="{38711399-05EF-406F-B0BF-EF2716C532A5}" presName="compNode" presStyleCnt="0"/>
      <dgm:spPr/>
    </dgm:pt>
    <dgm:pt modelId="{E0154E83-8330-4E7C-9E4C-D972A81980F5}" type="pres">
      <dgm:prSet presAssocID="{38711399-05EF-406F-B0BF-EF2716C532A5}" presName="bgRect" presStyleLbl="bgShp" presStyleIdx="1" presStyleCnt="5"/>
      <dgm:spPr/>
    </dgm:pt>
    <dgm:pt modelId="{3BB35C18-1A2D-475C-AAEF-A90618F28947}" type="pres">
      <dgm:prSet presAssocID="{38711399-05EF-406F-B0BF-EF2716C532A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6523673-28DF-4263-98BF-87EE0EDA32CD}" type="pres">
      <dgm:prSet presAssocID="{38711399-05EF-406F-B0BF-EF2716C532A5}" presName="spaceRect" presStyleCnt="0"/>
      <dgm:spPr/>
    </dgm:pt>
    <dgm:pt modelId="{CB40782A-2D8D-4BEF-8E9C-31EEDA197606}" type="pres">
      <dgm:prSet presAssocID="{38711399-05EF-406F-B0BF-EF2716C532A5}" presName="parTx" presStyleLbl="revTx" presStyleIdx="1" presStyleCnt="5">
        <dgm:presLayoutVars>
          <dgm:chMax val="0"/>
          <dgm:chPref val="0"/>
        </dgm:presLayoutVars>
      </dgm:prSet>
      <dgm:spPr/>
    </dgm:pt>
    <dgm:pt modelId="{36C6928D-616F-46E8-B918-9C2678D82338}" type="pres">
      <dgm:prSet presAssocID="{DD7845D0-2328-47BC-A6C4-9BEDF0DE8B7C}" presName="sibTrans" presStyleCnt="0"/>
      <dgm:spPr/>
    </dgm:pt>
    <dgm:pt modelId="{327CA053-5F9F-4A4D-989C-4F760179AB95}" type="pres">
      <dgm:prSet presAssocID="{59BB5149-BC82-4AFA-AB80-90A82F60392A}" presName="compNode" presStyleCnt="0"/>
      <dgm:spPr/>
    </dgm:pt>
    <dgm:pt modelId="{FDDDB6C3-59DE-462A-953F-0B02CE5D1429}" type="pres">
      <dgm:prSet presAssocID="{59BB5149-BC82-4AFA-AB80-90A82F60392A}" presName="bgRect" presStyleLbl="bgShp" presStyleIdx="2" presStyleCnt="5"/>
      <dgm:spPr/>
    </dgm:pt>
    <dgm:pt modelId="{795720AF-9D75-49D1-B618-7DB26BFA4918}" type="pres">
      <dgm:prSet presAssocID="{59BB5149-BC82-4AFA-AB80-90A82F60392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5611B10F-B85B-4DAE-ADA7-D03CABDF8EE5}" type="pres">
      <dgm:prSet presAssocID="{59BB5149-BC82-4AFA-AB80-90A82F60392A}" presName="spaceRect" presStyleCnt="0"/>
      <dgm:spPr/>
    </dgm:pt>
    <dgm:pt modelId="{622430B8-F427-44E2-A164-2BF8C5FE7CB6}" type="pres">
      <dgm:prSet presAssocID="{59BB5149-BC82-4AFA-AB80-90A82F60392A}" presName="parTx" presStyleLbl="revTx" presStyleIdx="2" presStyleCnt="5">
        <dgm:presLayoutVars>
          <dgm:chMax val="0"/>
          <dgm:chPref val="0"/>
        </dgm:presLayoutVars>
      </dgm:prSet>
      <dgm:spPr/>
    </dgm:pt>
    <dgm:pt modelId="{D1DC87D8-5820-40C6-8439-86CD408F8438}" type="pres">
      <dgm:prSet presAssocID="{EABFFA6A-8385-4E5B-8E7E-22A6D8806592}" presName="sibTrans" presStyleCnt="0"/>
      <dgm:spPr/>
    </dgm:pt>
    <dgm:pt modelId="{B73A15A4-BAF1-4E2D-AC7D-FB6140DC8918}" type="pres">
      <dgm:prSet presAssocID="{744B54CD-608B-4053-AA23-DA480CEE7290}" presName="compNode" presStyleCnt="0"/>
      <dgm:spPr/>
    </dgm:pt>
    <dgm:pt modelId="{A2E88E14-218D-4100-9342-0167625EDE1F}" type="pres">
      <dgm:prSet presAssocID="{744B54CD-608B-4053-AA23-DA480CEE7290}" presName="bgRect" presStyleLbl="bgShp" presStyleIdx="3" presStyleCnt="5"/>
      <dgm:spPr/>
    </dgm:pt>
    <dgm:pt modelId="{2690A3A9-71C4-4C1D-B100-8D64FD873AE1}" type="pres">
      <dgm:prSet presAssocID="{744B54CD-608B-4053-AA23-DA480CEE729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580D26AE-ABB7-4EF7-A23D-A9037396CF47}" type="pres">
      <dgm:prSet presAssocID="{744B54CD-608B-4053-AA23-DA480CEE7290}" presName="spaceRect" presStyleCnt="0"/>
      <dgm:spPr/>
    </dgm:pt>
    <dgm:pt modelId="{29524A49-5FF5-497D-B372-87C6608BC523}" type="pres">
      <dgm:prSet presAssocID="{744B54CD-608B-4053-AA23-DA480CEE7290}" presName="parTx" presStyleLbl="revTx" presStyleIdx="3" presStyleCnt="5">
        <dgm:presLayoutVars>
          <dgm:chMax val="0"/>
          <dgm:chPref val="0"/>
        </dgm:presLayoutVars>
      </dgm:prSet>
      <dgm:spPr/>
    </dgm:pt>
    <dgm:pt modelId="{9F4F7036-7C61-4696-BB0E-B4E0567FDC90}" type="pres">
      <dgm:prSet presAssocID="{EF91B9B0-8640-4095-B029-ED8118066BCF}" presName="sibTrans" presStyleCnt="0"/>
      <dgm:spPr/>
    </dgm:pt>
    <dgm:pt modelId="{B209E660-9520-4655-BB93-ABF0BE1C7DF8}" type="pres">
      <dgm:prSet presAssocID="{C5D2687F-0109-4B14-A266-F2D598109CEC}" presName="compNode" presStyleCnt="0"/>
      <dgm:spPr/>
    </dgm:pt>
    <dgm:pt modelId="{CC9D50C3-6464-4192-B927-8B87358268FB}" type="pres">
      <dgm:prSet presAssocID="{C5D2687F-0109-4B14-A266-F2D598109CEC}" presName="bgRect" presStyleLbl="bgShp" presStyleIdx="4" presStyleCnt="5"/>
      <dgm:spPr/>
    </dgm:pt>
    <dgm:pt modelId="{3484D161-CF62-4264-8919-977DB8CC3AA8}" type="pres">
      <dgm:prSet presAssocID="{C5D2687F-0109-4B14-A266-F2D598109CE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F3B12AE2-C455-4BF4-BBCC-CF0541E5004C}" type="pres">
      <dgm:prSet presAssocID="{C5D2687F-0109-4B14-A266-F2D598109CEC}" presName="spaceRect" presStyleCnt="0"/>
      <dgm:spPr/>
    </dgm:pt>
    <dgm:pt modelId="{42B7C878-98F8-4F3A-9C27-6495693E2AFA}" type="pres">
      <dgm:prSet presAssocID="{C5D2687F-0109-4B14-A266-F2D598109CE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1E3ED01-5306-4A9E-9B4A-FB869DD863AD}" srcId="{48C168E5-4382-4A11-9699-CBBC42274D2B}" destId="{C5D2687F-0109-4B14-A266-F2D598109CEC}" srcOrd="4" destOrd="0" parTransId="{F62C1BD0-3928-485A-9D55-48C06B1F9FB3}" sibTransId="{93A499BC-B0C3-4FBA-9C78-0C82019295DF}"/>
    <dgm:cxn modelId="{16D3F111-C44C-499F-ABF0-A7D75272786C}" type="presOf" srcId="{59BB5149-BC82-4AFA-AB80-90A82F60392A}" destId="{622430B8-F427-44E2-A164-2BF8C5FE7CB6}" srcOrd="0" destOrd="0" presId="urn:microsoft.com/office/officeart/2018/2/layout/IconVerticalSolidList"/>
    <dgm:cxn modelId="{6551C730-8DB2-48FD-BBC5-08F72C68DEAB}" type="presOf" srcId="{C5D2687F-0109-4B14-A266-F2D598109CEC}" destId="{42B7C878-98F8-4F3A-9C27-6495693E2AFA}" srcOrd="0" destOrd="0" presId="urn:microsoft.com/office/officeart/2018/2/layout/IconVerticalSolidList"/>
    <dgm:cxn modelId="{5E83E68A-FEB3-4FEC-B670-B517D8938192}" type="presOf" srcId="{38711399-05EF-406F-B0BF-EF2716C532A5}" destId="{CB40782A-2D8D-4BEF-8E9C-31EEDA197606}" srcOrd="0" destOrd="0" presId="urn:microsoft.com/office/officeart/2018/2/layout/IconVerticalSolidList"/>
    <dgm:cxn modelId="{CAD15796-A89F-4D29-A187-CB538F7170FE}" type="presOf" srcId="{7A885DC9-3564-405C-AA3A-DCE7F8A2B55C}" destId="{89D88402-099B-4F23-8EC2-65B32E9DA618}" srcOrd="0" destOrd="0" presId="urn:microsoft.com/office/officeart/2018/2/layout/IconVerticalSolidList"/>
    <dgm:cxn modelId="{DA7747B3-31A7-48B0-91C2-5DDE4863F4BF}" srcId="{48C168E5-4382-4A11-9699-CBBC42274D2B}" destId="{744B54CD-608B-4053-AA23-DA480CEE7290}" srcOrd="3" destOrd="0" parTransId="{D825F976-D0BF-417B-92BD-3CE2EF3A51C5}" sibTransId="{EF91B9B0-8640-4095-B029-ED8118066BCF}"/>
    <dgm:cxn modelId="{30A86BC1-DA4F-48A4-B38E-AD17298EEE5D}" srcId="{48C168E5-4382-4A11-9699-CBBC42274D2B}" destId="{38711399-05EF-406F-B0BF-EF2716C532A5}" srcOrd="1" destOrd="0" parTransId="{6C95AE85-9999-439F-AF79-32E36C77BBB9}" sibTransId="{DD7845D0-2328-47BC-A6C4-9BEDF0DE8B7C}"/>
    <dgm:cxn modelId="{53EDBED6-8083-4206-AF3B-03C7E784CD03}" srcId="{48C168E5-4382-4A11-9699-CBBC42274D2B}" destId="{7A885DC9-3564-405C-AA3A-DCE7F8A2B55C}" srcOrd="0" destOrd="0" parTransId="{0E9F1CEC-BEA0-4EBC-AC1D-B7FFB4AF2989}" sibTransId="{C6EED11D-242E-4565-BBBD-D215D8297FDD}"/>
    <dgm:cxn modelId="{02E728E0-2E8D-47AA-BCB9-DDFC854E68A5}" type="presOf" srcId="{48C168E5-4382-4A11-9699-CBBC42274D2B}" destId="{6E0564D7-ED7D-4EFF-B481-E79FC625171F}" srcOrd="0" destOrd="0" presId="urn:microsoft.com/office/officeart/2018/2/layout/IconVerticalSolidList"/>
    <dgm:cxn modelId="{8F61B9E4-2ADE-42C4-A4C1-624CDAC0F188}" type="presOf" srcId="{744B54CD-608B-4053-AA23-DA480CEE7290}" destId="{29524A49-5FF5-497D-B372-87C6608BC523}" srcOrd="0" destOrd="0" presId="urn:microsoft.com/office/officeart/2018/2/layout/IconVerticalSolidList"/>
    <dgm:cxn modelId="{9EE93DFD-DB77-4C0C-B3CA-620DB5722D17}" srcId="{48C168E5-4382-4A11-9699-CBBC42274D2B}" destId="{59BB5149-BC82-4AFA-AB80-90A82F60392A}" srcOrd="2" destOrd="0" parTransId="{2A2F1FDE-4365-4ED2-896E-134518674F09}" sibTransId="{EABFFA6A-8385-4E5B-8E7E-22A6D8806592}"/>
    <dgm:cxn modelId="{BA772A14-EDB5-45FF-8CE2-339C7407FE43}" type="presParOf" srcId="{6E0564D7-ED7D-4EFF-B481-E79FC625171F}" destId="{23A427C0-F7D1-4052-8B2A-B3A5E12208BC}" srcOrd="0" destOrd="0" presId="urn:microsoft.com/office/officeart/2018/2/layout/IconVerticalSolidList"/>
    <dgm:cxn modelId="{85F7C73A-ADA2-4BAD-A3E6-0310F8BBE881}" type="presParOf" srcId="{23A427C0-F7D1-4052-8B2A-B3A5E12208BC}" destId="{74FDFF20-A7AA-48E9-88D1-AD4DB8243BF1}" srcOrd="0" destOrd="0" presId="urn:microsoft.com/office/officeart/2018/2/layout/IconVerticalSolidList"/>
    <dgm:cxn modelId="{3089AF1F-5684-4A89-B0A8-F822FBDF7A26}" type="presParOf" srcId="{23A427C0-F7D1-4052-8B2A-B3A5E12208BC}" destId="{661C9D71-BDCB-4EAE-829C-823A26DC37C9}" srcOrd="1" destOrd="0" presId="urn:microsoft.com/office/officeart/2018/2/layout/IconVerticalSolidList"/>
    <dgm:cxn modelId="{095C9F5E-68D9-4A26-AFD6-D2E1F0EE8174}" type="presParOf" srcId="{23A427C0-F7D1-4052-8B2A-B3A5E12208BC}" destId="{DBE5F346-80AB-400C-BD49-9D67E998FFF8}" srcOrd="2" destOrd="0" presId="urn:microsoft.com/office/officeart/2018/2/layout/IconVerticalSolidList"/>
    <dgm:cxn modelId="{B8FFE48F-70D8-476D-A469-01FEB95301B4}" type="presParOf" srcId="{23A427C0-F7D1-4052-8B2A-B3A5E12208BC}" destId="{89D88402-099B-4F23-8EC2-65B32E9DA618}" srcOrd="3" destOrd="0" presId="urn:microsoft.com/office/officeart/2018/2/layout/IconVerticalSolidList"/>
    <dgm:cxn modelId="{AE22853C-7000-4672-9662-A8C7D4A20205}" type="presParOf" srcId="{6E0564D7-ED7D-4EFF-B481-E79FC625171F}" destId="{872C3285-E37A-4D8C-8A66-B9F2CA12F96F}" srcOrd="1" destOrd="0" presId="urn:microsoft.com/office/officeart/2018/2/layout/IconVerticalSolidList"/>
    <dgm:cxn modelId="{65F7B705-9593-4C9A-A959-00B3869297F8}" type="presParOf" srcId="{6E0564D7-ED7D-4EFF-B481-E79FC625171F}" destId="{26A5D138-3B55-4071-B551-35BC23C7D58B}" srcOrd="2" destOrd="0" presId="urn:microsoft.com/office/officeart/2018/2/layout/IconVerticalSolidList"/>
    <dgm:cxn modelId="{2EEC763F-8E90-4DFD-8A68-45772920BDB6}" type="presParOf" srcId="{26A5D138-3B55-4071-B551-35BC23C7D58B}" destId="{E0154E83-8330-4E7C-9E4C-D972A81980F5}" srcOrd="0" destOrd="0" presId="urn:microsoft.com/office/officeart/2018/2/layout/IconVerticalSolidList"/>
    <dgm:cxn modelId="{977F14F5-2B12-4842-90F7-6D3F6E9A06D5}" type="presParOf" srcId="{26A5D138-3B55-4071-B551-35BC23C7D58B}" destId="{3BB35C18-1A2D-475C-AAEF-A90618F28947}" srcOrd="1" destOrd="0" presId="urn:microsoft.com/office/officeart/2018/2/layout/IconVerticalSolidList"/>
    <dgm:cxn modelId="{3D1285D8-4BD6-44DC-9193-A753C391F175}" type="presParOf" srcId="{26A5D138-3B55-4071-B551-35BC23C7D58B}" destId="{86523673-28DF-4263-98BF-87EE0EDA32CD}" srcOrd="2" destOrd="0" presId="urn:microsoft.com/office/officeart/2018/2/layout/IconVerticalSolidList"/>
    <dgm:cxn modelId="{6C9747C1-B1A3-459C-BF20-15A38B6F3B57}" type="presParOf" srcId="{26A5D138-3B55-4071-B551-35BC23C7D58B}" destId="{CB40782A-2D8D-4BEF-8E9C-31EEDA197606}" srcOrd="3" destOrd="0" presId="urn:microsoft.com/office/officeart/2018/2/layout/IconVerticalSolidList"/>
    <dgm:cxn modelId="{F14DBA48-584F-4488-9FBC-4E73F0954458}" type="presParOf" srcId="{6E0564D7-ED7D-4EFF-B481-E79FC625171F}" destId="{36C6928D-616F-46E8-B918-9C2678D82338}" srcOrd="3" destOrd="0" presId="urn:microsoft.com/office/officeart/2018/2/layout/IconVerticalSolidList"/>
    <dgm:cxn modelId="{80BFE011-9D74-46E6-9358-0ACD8963C05E}" type="presParOf" srcId="{6E0564D7-ED7D-4EFF-B481-E79FC625171F}" destId="{327CA053-5F9F-4A4D-989C-4F760179AB95}" srcOrd="4" destOrd="0" presId="urn:microsoft.com/office/officeart/2018/2/layout/IconVerticalSolidList"/>
    <dgm:cxn modelId="{5D40FCB9-BE13-4438-98C0-ACC9664AB38B}" type="presParOf" srcId="{327CA053-5F9F-4A4D-989C-4F760179AB95}" destId="{FDDDB6C3-59DE-462A-953F-0B02CE5D1429}" srcOrd="0" destOrd="0" presId="urn:microsoft.com/office/officeart/2018/2/layout/IconVerticalSolidList"/>
    <dgm:cxn modelId="{3C912CD7-77E5-4E8A-84E1-72A98470D3C7}" type="presParOf" srcId="{327CA053-5F9F-4A4D-989C-4F760179AB95}" destId="{795720AF-9D75-49D1-B618-7DB26BFA4918}" srcOrd="1" destOrd="0" presId="urn:microsoft.com/office/officeart/2018/2/layout/IconVerticalSolidList"/>
    <dgm:cxn modelId="{3A306516-D3C6-4C5C-B9D5-16B4F0129AF0}" type="presParOf" srcId="{327CA053-5F9F-4A4D-989C-4F760179AB95}" destId="{5611B10F-B85B-4DAE-ADA7-D03CABDF8EE5}" srcOrd="2" destOrd="0" presId="urn:microsoft.com/office/officeart/2018/2/layout/IconVerticalSolidList"/>
    <dgm:cxn modelId="{82F3C8C8-3793-4311-8ACC-2F4FEB80D156}" type="presParOf" srcId="{327CA053-5F9F-4A4D-989C-4F760179AB95}" destId="{622430B8-F427-44E2-A164-2BF8C5FE7CB6}" srcOrd="3" destOrd="0" presId="urn:microsoft.com/office/officeart/2018/2/layout/IconVerticalSolidList"/>
    <dgm:cxn modelId="{9A95806F-B2A9-46BF-8D54-1645C8B441FC}" type="presParOf" srcId="{6E0564D7-ED7D-4EFF-B481-E79FC625171F}" destId="{D1DC87D8-5820-40C6-8439-86CD408F8438}" srcOrd="5" destOrd="0" presId="urn:microsoft.com/office/officeart/2018/2/layout/IconVerticalSolidList"/>
    <dgm:cxn modelId="{2BAF16CA-5C18-4AE4-96EC-368E180CE01A}" type="presParOf" srcId="{6E0564D7-ED7D-4EFF-B481-E79FC625171F}" destId="{B73A15A4-BAF1-4E2D-AC7D-FB6140DC8918}" srcOrd="6" destOrd="0" presId="urn:microsoft.com/office/officeart/2018/2/layout/IconVerticalSolidList"/>
    <dgm:cxn modelId="{AB93A5BA-863C-4E22-A996-AF915261C57F}" type="presParOf" srcId="{B73A15A4-BAF1-4E2D-AC7D-FB6140DC8918}" destId="{A2E88E14-218D-4100-9342-0167625EDE1F}" srcOrd="0" destOrd="0" presId="urn:microsoft.com/office/officeart/2018/2/layout/IconVerticalSolidList"/>
    <dgm:cxn modelId="{46604C91-6D15-45AB-8F8E-E6C19674017C}" type="presParOf" srcId="{B73A15A4-BAF1-4E2D-AC7D-FB6140DC8918}" destId="{2690A3A9-71C4-4C1D-B100-8D64FD873AE1}" srcOrd="1" destOrd="0" presId="urn:microsoft.com/office/officeart/2018/2/layout/IconVerticalSolidList"/>
    <dgm:cxn modelId="{A49319D9-C35F-4139-B9DC-04F670E61484}" type="presParOf" srcId="{B73A15A4-BAF1-4E2D-AC7D-FB6140DC8918}" destId="{580D26AE-ABB7-4EF7-A23D-A9037396CF47}" srcOrd="2" destOrd="0" presId="urn:microsoft.com/office/officeart/2018/2/layout/IconVerticalSolidList"/>
    <dgm:cxn modelId="{ECECF9A7-F63D-4C3D-A0E9-921A4EC842C7}" type="presParOf" srcId="{B73A15A4-BAF1-4E2D-AC7D-FB6140DC8918}" destId="{29524A49-5FF5-497D-B372-87C6608BC523}" srcOrd="3" destOrd="0" presId="urn:microsoft.com/office/officeart/2018/2/layout/IconVerticalSolidList"/>
    <dgm:cxn modelId="{10239482-F2C8-4C92-B7EF-72FABF682043}" type="presParOf" srcId="{6E0564D7-ED7D-4EFF-B481-E79FC625171F}" destId="{9F4F7036-7C61-4696-BB0E-B4E0567FDC90}" srcOrd="7" destOrd="0" presId="urn:microsoft.com/office/officeart/2018/2/layout/IconVerticalSolidList"/>
    <dgm:cxn modelId="{F2E653CA-9B94-4738-ABC1-58F8E07436FE}" type="presParOf" srcId="{6E0564D7-ED7D-4EFF-B481-E79FC625171F}" destId="{B209E660-9520-4655-BB93-ABF0BE1C7DF8}" srcOrd="8" destOrd="0" presId="urn:microsoft.com/office/officeart/2018/2/layout/IconVerticalSolidList"/>
    <dgm:cxn modelId="{0130EFBC-D045-429F-96E7-653AFE56DEF3}" type="presParOf" srcId="{B209E660-9520-4655-BB93-ABF0BE1C7DF8}" destId="{CC9D50C3-6464-4192-B927-8B87358268FB}" srcOrd="0" destOrd="0" presId="urn:microsoft.com/office/officeart/2018/2/layout/IconVerticalSolidList"/>
    <dgm:cxn modelId="{1414A890-F7E2-4296-B1EC-B7C41A652FE8}" type="presParOf" srcId="{B209E660-9520-4655-BB93-ABF0BE1C7DF8}" destId="{3484D161-CF62-4264-8919-977DB8CC3AA8}" srcOrd="1" destOrd="0" presId="urn:microsoft.com/office/officeart/2018/2/layout/IconVerticalSolidList"/>
    <dgm:cxn modelId="{E39D5758-B75B-4BCB-B6E6-3D361B64FF80}" type="presParOf" srcId="{B209E660-9520-4655-BB93-ABF0BE1C7DF8}" destId="{F3B12AE2-C455-4BF4-BBCC-CF0541E5004C}" srcOrd="2" destOrd="0" presId="urn:microsoft.com/office/officeart/2018/2/layout/IconVerticalSolidList"/>
    <dgm:cxn modelId="{ED56B465-A86A-46B7-8038-7E0F918010DC}" type="presParOf" srcId="{B209E660-9520-4655-BB93-ABF0BE1C7DF8}" destId="{42B7C878-98F8-4F3A-9C27-6495693E2A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FDFF20-A7AA-48E9-88D1-AD4DB8243BF1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1C9D71-BDCB-4EAE-829C-823A26DC37C9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88402-099B-4F23-8EC2-65B32E9DA618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Title:</a:t>
          </a:r>
          <a:r>
            <a:rPr lang="en-ZA" sz="1900" kern="1200"/>
            <a:t> RaceDay System Planning &amp; Database Design </a:t>
          </a:r>
          <a:endParaRPr lang="en-US" sz="1900" kern="1200"/>
        </a:p>
      </dsp:txBody>
      <dsp:txXfrm>
        <a:off x="1059754" y="4307"/>
        <a:ext cx="5304469" cy="917536"/>
      </dsp:txXfrm>
    </dsp:sp>
    <dsp:sp modelId="{E0154E83-8330-4E7C-9E4C-D972A81980F5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B35C18-1A2D-475C-AAEF-A90618F28947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0782A-2D8D-4BEF-8E9C-31EEDA197606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Subtitle:</a:t>
          </a:r>
          <a:r>
            <a:rPr lang="en-ZA" sz="1900" kern="1200"/>
            <a:t> Part 1 - System Planning, ERD, API Endpoints, and SQL Schema</a:t>
          </a:r>
          <a:endParaRPr lang="en-US" sz="1900" kern="1200"/>
        </a:p>
      </dsp:txBody>
      <dsp:txXfrm>
        <a:off x="1059754" y="1151227"/>
        <a:ext cx="5304469" cy="917536"/>
      </dsp:txXfrm>
    </dsp:sp>
    <dsp:sp modelId="{FDDDB6C3-59DE-462A-953F-0B02CE5D1429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5720AF-9D75-49D1-B618-7DB26BFA4918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430B8-F427-44E2-A164-2BF8C5FE7CB6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Presenter:</a:t>
          </a:r>
          <a:r>
            <a:rPr lang="en-ZA" sz="1900" kern="1200"/>
            <a:t> Boikanyo Maleka </a:t>
          </a:r>
          <a:endParaRPr lang="en-US" sz="1900" kern="1200"/>
        </a:p>
      </dsp:txBody>
      <dsp:txXfrm>
        <a:off x="1059754" y="2298147"/>
        <a:ext cx="5304469" cy="917536"/>
      </dsp:txXfrm>
    </dsp:sp>
    <dsp:sp modelId="{A2E88E14-218D-4100-9342-0167625EDE1F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0A3A9-71C4-4C1D-B100-8D64FD873AE1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24A49-5FF5-497D-B372-87C6608BC523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Student Number:</a:t>
          </a:r>
          <a:r>
            <a:rPr lang="en-ZA" sz="1900" kern="1200"/>
            <a:t> ST10472664</a:t>
          </a:r>
          <a:endParaRPr lang="en-US" sz="1900" kern="1200"/>
        </a:p>
      </dsp:txBody>
      <dsp:txXfrm>
        <a:off x="1059754" y="3445068"/>
        <a:ext cx="5304469" cy="917536"/>
      </dsp:txXfrm>
    </dsp:sp>
    <dsp:sp modelId="{CC9D50C3-6464-4192-B927-8B87358268FB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4D161-CF62-4264-8919-977DB8CC3AA8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7C878-98F8-4F3A-9C27-6495693E2AFA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b="1" kern="1200"/>
            <a:t>Date:</a:t>
          </a:r>
          <a:r>
            <a:rPr lang="en-ZA" sz="1900" kern="1200"/>
            <a:t> 04 September 2026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D4BD-0B6A-0DC8-FD00-683981FB6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077CF-A0FA-9E72-05DF-6CA112656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58E54-9F03-4FCE-DEE1-2E90D02BA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75FE-B255-48F5-927F-CA7E814E67DB}" type="datetimeFigureOut">
              <a:rPr lang="en-ZA" smtClean="0"/>
              <a:t>2026/09/04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12089-891E-78D3-1FB2-965560D9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98F68-8C88-FFF6-331B-3E74A791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7883-A5A6-4DE9-B0D0-DDF75E4D883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0483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494B-CC70-99A4-DFE0-7D298DEE9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7A657-42B7-C776-C339-65CC8A20C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7EFAE-0E79-6D79-1C04-D4F6452A0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75FE-B255-48F5-927F-CA7E814E67DB}" type="datetimeFigureOut">
              <a:rPr lang="en-ZA" smtClean="0"/>
              <a:t>2026/09/04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6EB72-7AC0-2C32-C019-63192C7B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BDDAF-C884-3A5B-54A5-503577D4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7883-A5A6-4DE9-B0D0-DDF75E4D883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86154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147A-FA23-3819-000D-5468D8FD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51C2D-5633-9FE9-1272-BA2A5857E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FA790-CF30-58F7-E46A-DAAA005F0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75FE-B255-48F5-927F-CA7E814E67DB}" type="datetimeFigureOut">
              <a:rPr lang="en-ZA" smtClean="0"/>
              <a:t>2026/09/04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95500-692A-6A58-6108-3F6806FFE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B652E-AF21-4F77-AC39-098FBFD62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7883-A5A6-4DE9-B0D0-DDF75E4D883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48142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8CD25-FF87-ADD7-20E9-2F6CD4D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284B9-DE94-5841-B1B5-D4848C9EE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076C0-2186-6CD1-B3F7-CF0E494F1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95509-5B44-A4A4-167F-9A284055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75FE-B255-48F5-927F-CA7E814E67DB}" type="datetimeFigureOut">
              <a:rPr lang="en-ZA" smtClean="0"/>
              <a:t>2026/09/04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28A5-7B4C-8AE2-4324-E461EE78B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76E19-E8F2-6B05-188C-FB393076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7883-A5A6-4DE9-B0D0-DDF75E4D883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8059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F08AB-586E-A4D4-051F-9B6D71492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7BA60-C91F-E0EB-E01A-3C24FB6B3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38784-C0C1-71AE-2AF3-52C5BC012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85C2F8-CD32-290D-7EF1-22317252FE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A111A-EF16-7DB8-2F0D-3EDE6B2AB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A0B629-107C-4B68-750C-AF85B8B1E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75FE-B255-48F5-927F-CA7E814E67DB}" type="datetimeFigureOut">
              <a:rPr lang="en-ZA" smtClean="0"/>
              <a:t>2026/09/04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F1C23F-3165-4F44-C31F-ACF8154BE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A0290-71F8-399E-FEEF-5E9F92E4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7883-A5A6-4DE9-B0D0-DDF75E4D883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62790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82745-D521-1F11-9A94-AA822F97B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E3F35C-76C6-1AA0-3C17-43FDE767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75FE-B255-48F5-927F-CA7E814E67DB}" type="datetimeFigureOut">
              <a:rPr lang="en-ZA" smtClean="0"/>
              <a:t>2026/09/04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BF7C28-374F-DD5D-1E38-9BF457C33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8B592-075E-C98D-2BF7-A9EA60A09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7883-A5A6-4DE9-B0D0-DDF75E4D883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7018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1EDFBE-148D-620C-1246-B3A24AF30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75FE-B255-48F5-927F-CA7E814E67DB}" type="datetimeFigureOut">
              <a:rPr lang="en-ZA" smtClean="0"/>
              <a:t>2026/09/04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E65ED-7600-DBE9-5898-F5DA22145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2D26E-C8AB-8F29-7687-1EC84B74B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7883-A5A6-4DE9-B0D0-DDF75E4D883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967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8EE0-B9AB-82E8-0F35-D7BF76F75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77248-C723-406F-8129-5BA21AC94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BAF57-BCC8-8626-4418-8E51D33CB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2ABE1-DA92-C072-B5D1-93A97ACE5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75FE-B255-48F5-927F-CA7E814E67DB}" type="datetimeFigureOut">
              <a:rPr lang="en-ZA" smtClean="0"/>
              <a:t>2026/09/04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CC9B7-1475-192A-FDBF-85D43C5D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8C42A-B72A-ECD1-49E6-CE1A683B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7883-A5A6-4DE9-B0D0-DDF75E4D883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5116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22DC-4AD4-665E-FA88-468EF17B5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D5DAFA-1EC9-1013-EEB8-93D1BC6B0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79CF2-7EA6-6BAD-9661-646B73E2B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3A8B9-28E7-94C2-076B-782B2B7C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75FE-B255-48F5-927F-CA7E814E67DB}" type="datetimeFigureOut">
              <a:rPr lang="en-ZA" smtClean="0"/>
              <a:t>2026/09/04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E3FBF-F980-42FD-4677-198E2753F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6037E-5A9E-CBBF-2C31-E65A96647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7883-A5A6-4DE9-B0D0-DDF75E4D883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552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251AC-0849-05D8-A162-036A573BC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3A8075-8A6B-7EDA-73F3-33E68A49E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4A8AC-213A-EF03-7B89-0DBF67E6C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75FE-B255-48F5-927F-CA7E814E67DB}" type="datetimeFigureOut">
              <a:rPr lang="en-ZA" smtClean="0"/>
              <a:t>2026/09/04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19F00-3590-D1B7-4C4B-AA05E91DD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27222-2FAA-9F46-8F53-63F5EF04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7883-A5A6-4DE9-B0D0-DDF75E4D883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9278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52A44B-6B76-01F9-823E-51A9712CE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283AB-6D7C-59C8-0857-882DD7FA7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8C492-58C1-E089-79BF-0ECF881BD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75FE-B255-48F5-927F-CA7E814E67DB}" type="datetimeFigureOut">
              <a:rPr lang="en-ZA" smtClean="0"/>
              <a:t>2026/09/04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81314-B878-9151-36BC-6C7B0FCE4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947D6-0B7F-B2E9-1712-979ABB48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7883-A5A6-4DE9-B0D0-DDF75E4D883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358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829DD4-1FBB-74C7-82D9-CDDAF8CF2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33894-7A46-8609-8071-F9C17E767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4FBA2-4601-98C8-8F43-376E5F490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875FE-B255-48F5-927F-CA7E814E67DB}" type="datetimeFigureOut">
              <a:rPr lang="en-ZA" smtClean="0"/>
              <a:t>2026/09/04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D850E-3000-D8EA-7A9A-EE053FB8B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DE6AB-51E8-C444-C81C-346AF196D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6B7883-A5A6-4DE9-B0D0-DDF75E4D883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0492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1.mp4"/><Relationship Id="rId1" Type="http://schemas.microsoft.com/office/2007/relationships/media" Target="../media/media11.mp4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611C5-8F54-8117-3D95-68532C98B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ZA" sz="4000"/>
              <a:t>RaceDay System Planning and Database Design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2200A6-4A4F-9996-F3B3-2CC10469F8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604819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Video 5">
            <a:hlinkClick r:id="" action="ppaction://media"/>
            <a:extLst>
              <a:ext uri="{FF2B5EF4-FFF2-40B4-BE49-F238E27FC236}">
                <a16:creationId xmlns:a16="http://schemas.microsoft.com/office/drawing/2014/main" id="{D86D04B6-EA34-2209-12B8-3510DE96CCB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9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55279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669"/>
    </mc:Choice>
    <mc:Fallback>
      <p:transition spd="slow" advTm="25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42848A-6613-DE7F-4520-75D490D0D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ZA" sz="400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B9A70-5E6A-9E13-2B4F-D6E9A3A62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lvl="0"/>
            <a:r>
              <a:rPr lang="en-ZA" sz="1700" b="1" dirty="0"/>
              <a:t>Purpose:</a:t>
            </a:r>
            <a:r>
              <a:rPr lang="en-ZA" sz="1700" dirty="0"/>
              <a:t> A comprehensive platform to manage running events, marathons, and charity races.</a:t>
            </a:r>
          </a:p>
          <a:p>
            <a:pPr lvl="0"/>
            <a:r>
              <a:rPr lang="en-ZA" sz="1700" b="1" dirty="0"/>
              <a:t>Key Roles:</a:t>
            </a:r>
            <a:endParaRPr lang="en-ZA" sz="1700" dirty="0"/>
          </a:p>
          <a:p>
            <a:pPr lvl="1"/>
            <a:r>
              <a:rPr lang="en-ZA" sz="1700" b="1" dirty="0"/>
              <a:t>Admin:</a:t>
            </a:r>
            <a:r>
              <a:rPr lang="en-ZA" sz="1700" dirty="0"/>
              <a:t> System oversight.</a:t>
            </a:r>
          </a:p>
          <a:p>
            <a:pPr lvl="1"/>
            <a:r>
              <a:rPr lang="en-ZA" sz="1700" b="1" dirty="0"/>
              <a:t>Organiser:</a:t>
            </a:r>
            <a:r>
              <a:rPr lang="en-ZA" sz="1700" dirty="0"/>
              <a:t> Creates events, manages categories, and records results.</a:t>
            </a:r>
          </a:p>
          <a:p>
            <a:pPr lvl="1"/>
            <a:r>
              <a:rPr lang="en-ZA" sz="1700" b="1" dirty="0"/>
              <a:t>Participant:</a:t>
            </a:r>
            <a:r>
              <a:rPr lang="en-ZA" sz="1700" dirty="0"/>
              <a:t> Browses events, enrols in races, and views results.</a:t>
            </a:r>
          </a:p>
          <a:p>
            <a:pPr lvl="0"/>
            <a:r>
              <a:rPr lang="en-ZA" sz="1700" b="1" dirty="0"/>
              <a:t>Core Features:</a:t>
            </a:r>
            <a:r>
              <a:rPr lang="en-ZA" sz="1700" dirty="0"/>
              <a:t> User authentication, event management, category-based enrolment, and race result tracking.</a:t>
            </a:r>
          </a:p>
          <a:p>
            <a:endParaRPr lang="en-ZA" sz="1700" dirty="0"/>
          </a:p>
        </p:txBody>
      </p:sp>
      <p:pic>
        <p:nvPicPr>
          <p:cNvPr id="5" name="Picture 4" descr="Digital numbers art">
            <a:extLst>
              <a:ext uri="{FF2B5EF4-FFF2-40B4-BE49-F238E27FC236}">
                <a16:creationId xmlns:a16="http://schemas.microsoft.com/office/drawing/2014/main" id="{3FAB54A9-70A6-BEC2-5B59-BCF84A4AB6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60" r="3673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pic>
        <p:nvPicPr>
          <p:cNvPr id="10" name="Video 9">
            <a:hlinkClick r:id="" action="ppaction://media"/>
            <a:extLst>
              <a:ext uri="{FF2B5EF4-FFF2-40B4-BE49-F238E27FC236}">
                <a16:creationId xmlns:a16="http://schemas.microsoft.com/office/drawing/2014/main" id="{EFFC2BEC-F30F-182D-2E41-D0BB4EC073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89333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933"/>
    </mc:Choice>
    <mc:Fallback>
      <p:transition spd="slow" advTm="229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10A8D-04FA-7609-C711-3C84B57D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Section A: ERD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E330D-E37C-7111-36B3-8EB73C2B8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 indent="-228600">
              <a:buFont typeface="Arial" panose="020B0604020202020204" pitchFamily="34" charset="0"/>
              <a:buChar char="•"/>
            </a:pPr>
            <a:r>
              <a:rPr lang="en-US" sz="2200" b="1" dirty="0"/>
              <a:t>Total Entities:</a:t>
            </a:r>
            <a:r>
              <a:rPr lang="en-US" sz="2200" dirty="0"/>
              <a:t> 7 (Exceeds the minimum requirement of 6)</a:t>
            </a:r>
          </a:p>
          <a:p>
            <a:pPr lvl="0" indent="-228600">
              <a:buFont typeface="Arial" panose="020B0604020202020204" pitchFamily="34" charset="0"/>
              <a:buChar char="•"/>
            </a:pPr>
            <a:r>
              <a:rPr lang="en-US" sz="2200" b="1" dirty="0"/>
              <a:t>Design Tool:</a:t>
            </a:r>
            <a:r>
              <a:rPr lang="en-US" sz="2200" dirty="0"/>
              <a:t> Microsoft Visio</a:t>
            </a:r>
          </a:p>
          <a:p>
            <a:pPr lvl="0" indent="-228600">
              <a:buFont typeface="Arial" panose="020B0604020202020204" pitchFamily="34" charset="0"/>
              <a:buChar char="•"/>
            </a:pPr>
            <a:r>
              <a:rPr lang="en-US" sz="2200" b="1" dirty="0"/>
              <a:t>Notation:</a:t>
            </a:r>
            <a:r>
              <a:rPr lang="en-US" sz="2200" dirty="0"/>
              <a:t> UML Notation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2C0A8EE-1368-03B9-FBCE-4983ED9A940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04" r="15604"/>
          <a:stretch>
            <a:fillRect/>
          </a:stretch>
        </p:blipFill>
        <p:spPr>
          <a:xfrm>
            <a:off x="6099048" y="1276504"/>
            <a:ext cx="5458968" cy="4304991"/>
          </a:xfrm>
          <a:prstGeom prst="rect">
            <a:avLst/>
          </a:prstGeom>
        </p:spPr>
      </p:pic>
      <p:pic>
        <p:nvPicPr>
          <p:cNvPr id="7" name="Video 6">
            <a:hlinkClick r:id="" action="ppaction://media"/>
            <a:extLst>
              <a:ext uri="{FF2B5EF4-FFF2-40B4-BE49-F238E27FC236}">
                <a16:creationId xmlns:a16="http://schemas.microsoft.com/office/drawing/2014/main" id="{36F5E5CA-CE2B-5FB4-1F94-265D39DAF9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92654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762"/>
    </mc:Choice>
    <mc:Fallback>
      <p:transition spd="slow" advTm="347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3B01E-3D64-AEF9-E9AC-D60F7AA4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ZA">
                <a:solidFill>
                  <a:srgbClr val="FFFFFF"/>
                </a:solidFill>
              </a:rPr>
              <a:t>Entities and Attributes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9CFF0-02FB-427E-8A92-BA704264E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lvl="0"/>
            <a:r>
              <a:rPr lang="en-ZA" sz="2400" b="1"/>
              <a:t>User:</a:t>
            </a:r>
            <a:r>
              <a:rPr lang="en-ZA" sz="2400"/>
              <a:t> Central authentication (Email, </a:t>
            </a:r>
            <a:r>
              <a:rPr lang="en-ZA" sz="2400" err="1"/>
              <a:t>PasswordHash</a:t>
            </a:r>
            <a:r>
              <a:rPr lang="en-ZA" sz="2400"/>
              <a:t>, Role).</a:t>
            </a:r>
          </a:p>
          <a:p>
            <a:pPr lvl="0"/>
            <a:r>
              <a:rPr lang="en-ZA" sz="2400" b="1"/>
              <a:t>Organiser &amp; Participant:</a:t>
            </a:r>
            <a:r>
              <a:rPr lang="en-ZA" sz="2400"/>
              <a:t> Profile details linked 1:1 to the User table.</a:t>
            </a:r>
          </a:p>
          <a:p>
            <a:pPr lvl="0"/>
            <a:r>
              <a:rPr lang="en-ZA" sz="2400" b="1"/>
              <a:t>Event:</a:t>
            </a:r>
            <a:r>
              <a:rPr lang="en-ZA" sz="2400"/>
              <a:t> Core race details (Date, Location, </a:t>
            </a:r>
            <a:r>
              <a:rPr lang="en-ZA" sz="2400" err="1"/>
              <a:t>MaxParticipants</a:t>
            </a:r>
            <a:r>
              <a:rPr lang="en-ZA" sz="2400"/>
              <a:t>, Status).</a:t>
            </a:r>
          </a:p>
          <a:p>
            <a:pPr lvl="0"/>
            <a:r>
              <a:rPr lang="en-ZA" sz="2400" b="1"/>
              <a:t>Category:</a:t>
            </a:r>
            <a:r>
              <a:rPr lang="en-ZA" sz="2400"/>
              <a:t> Race divisions (e.g., 5K, 10K, Half Marathon) with age/gender rules and entry fees.</a:t>
            </a:r>
          </a:p>
          <a:p>
            <a:pPr lvl="0"/>
            <a:r>
              <a:rPr lang="en-ZA" sz="2400" b="1"/>
              <a:t>Enrolment:</a:t>
            </a:r>
            <a:r>
              <a:rPr lang="en-ZA" sz="2400"/>
              <a:t> The link between a Participant and a Category (includes </a:t>
            </a:r>
            <a:r>
              <a:rPr lang="en-ZA" sz="2400" err="1"/>
              <a:t>PaymentStatus</a:t>
            </a:r>
            <a:r>
              <a:rPr lang="en-ZA" sz="2400"/>
              <a:t> and </a:t>
            </a:r>
            <a:r>
              <a:rPr lang="en-ZA" sz="2400" err="1"/>
              <a:t>BibNumber</a:t>
            </a:r>
            <a:r>
              <a:rPr lang="en-ZA" sz="2400"/>
              <a:t>).</a:t>
            </a:r>
          </a:p>
          <a:p>
            <a:pPr lvl="0"/>
            <a:r>
              <a:rPr lang="en-ZA" sz="2400" b="1"/>
              <a:t>Result:</a:t>
            </a:r>
            <a:r>
              <a:rPr lang="en-ZA" sz="2400"/>
              <a:t> Race outcomes (</a:t>
            </a:r>
            <a:r>
              <a:rPr lang="en-ZA" sz="2400" err="1"/>
              <a:t>FinishTime</a:t>
            </a:r>
            <a:r>
              <a:rPr lang="en-ZA" sz="2400"/>
              <a:t>, Position) linked to the </a:t>
            </a:r>
            <a:r>
              <a:rPr lang="en-ZA" sz="2400" err="1"/>
              <a:t>Enrollment</a:t>
            </a:r>
            <a:r>
              <a:rPr lang="en-ZA" sz="2400"/>
              <a:t>.</a:t>
            </a:r>
          </a:p>
          <a:p>
            <a:endParaRPr lang="en-ZA" sz="2400"/>
          </a:p>
        </p:txBody>
      </p:sp>
      <p:pic>
        <p:nvPicPr>
          <p:cNvPr id="6" name="Video 5">
            <a:hlinkClick r:id="" action="ppaction://media"/>
            <a:extLst>
              <a:ext uri="{FF2B5EF4-FFF2-40B4-BE49-F238E27FC236}">
                <a16:creationId xmlns:a16="http://schemas.microsoft.com/office/drawing/2014/main" id="{82351897-E66A-7A9C-C9B3-CBF772D476E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684781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219"/>
    </mc:Choice>
    <mc:Fallback>
      <p:transition spd="slow" advTm="262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94937-6BBF-A6FE-A3B5-134460CB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ZA" sz="4100">
                <a:solidFill>
                  <a:srgbClr val="FFFFFF"/>
                </a:solidFill>
              </a:rPr>
              <a:t>Relationships and Cardinalities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4AFDD-4EE8-DB28-334E-E52B03FB7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lvl="0"/>
            <a:r>
              <a:rPr lang="en-ZA" b="1" dirty="0"/>
              <a:t>1:1 (One-to-One):</a:t>
            </a:r>
            <a:endParaRPr lang="en-ZA" dirty="0"/>
          </a:p>
          <a:p>
            <a:pPr lvl="1"/>
            <a:r>
              <a:rPr lang="en-ZA" dirty="0"/>
              <a:t>User ↔ Organiser</a:t>
            </a:r>
          </a:p>
          <a:p>
            <a:pPr lvl="1"/>
            <a:r>
              <a:rPr lang="en-ZA" dirty="0"/>
              <a:t>User ↔ Participant</a:t>
            </a:r>
          </a:p>
          <a:p>
            <a:pPr lvl="1"/>
            <a:r>
              <a:rPr lang="en-ZA" dirty="0" err="1"/>
              <a:t>Enrollment</a:t>
            </a:r>
            <a:r>
              <a:rPr lang="en-ZA" dirty="0"/>
              <a:t> ↔ Result</a:t>
            </a:r>
          </a:p>
          <a:p>
            <a:pPr lvl="0"/>
            <a:r>
              <a:rPr lang="en-ZA" b="1" dirty="0"/>
              <a:t>1:M (One-to-Many):</a:t>
            </a:r>
            <a:endParaRPr lang="en-ZA" dirty="0"/>
          </a:p>
          <a:p>
            <a:pPr lvl="1"/>
            <a:r>
              <a:rPr lang="en-ZA" dirty="0"/>
              <a:t>Organiser → Event </a:t>
            </a:r>
            <a:r>
              <a:rPr lang="en-ZA" i="1" dirty="0"/>
              <a:t>(One organiser hosts many events)</a:t>
            </a:r>
            <a:endParaRPr lang="en-ZA" dirty="0"/>
          </a:p>
          <a:p>
            <a:pPr lvl="1"/>
            <a:r>
              <a:rPr lang="en-ZA" dirty="0"/>
              <a:t>Event → Category </a:t>
            </a:r>
            <a:r>
              <a:rPr lang="en-ZA" i="1" dirty="0"/>
              <a:t>(One event has many categories)</a:t>
            </a:r>
            <a:endParaRPr lang="en-ZA" dirty="0"/>
          </a:p>
          <a:p>
            <a:pPr lvl="1"/>
            <a:r>
              <a:rPr lang="en-ZA" dirty="0"/>
              <a:t>Participant → Enrolment </a:t>
            </a:r>
            <a:r>
              <a:rPr lang="en-ZA" i="1" dirty="0"/>
              <a:t>(One participant has many </a:t>
            </a:r>
            <a:r>
              <a:rPr lang="en-ZA" i="1" dirty="0" err="1"/>
              <a:t>enrollments</a:t>
            </a:r>
            <a:r>
              <a:rPr lang="en-ZA" i="1" dirty="0"/>
              <a:t>)</a:t>
            </a:r>
            <a:endParaRPr lang="en-ZA" dirty="0"/>
          </a:p>
          <a:p>
            <a:pPr lvl="1"/>
            <a:r>
              <a:rPr lang="en-ZA" dirty="0"/>
              <a:t>Category → Enrolment </a:t>
            </a:r>
            <a:r>
              <a:rPr lang="en-ZA" i="1" dirty="0"/>
              <a:t>(One category has many </a:t>
            </a:r>
            <a:r>
              <a:rPr lang="en-ZA" i="1" dirty="0" err="1"/>
              <a:t>enrollments</a:t>
            </a:r>
            <a:r>
              <a:rPr lang="en-ZA" i="1" dirty="0"/>
              <a:t>)</a:t>
            </a:r>
            <a:endParaRPr lang="en-ZA" dirty="0"/>
          </a:p>
          <a:p>
            <a:endParaRPr lang="en-ZA" dirty="0"/>
          </a:p>
        </p:txBody>
      </p:sp>
      <p:pic>
        <p:nvPicPr>
          <p:cNvPr id="6" name="Video 5">
            <a:hlinkClick r:id="" action="ppaction://media"/>
            <a:extLst>
              <a:ext uri="{FF2B5EF4-FFF2-40B4-BE49-F238E27FC236}">
                <a16:creationId xmlns:a16="http://schemas.microsoft.com/office/drawing/2014/main" id="{0B67DD09-C528-5C50-7960-B8165F6651E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82587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196"/>
    </mc:Choice>
    <mc:Fallback>
      <p:transition spd="slow" advTm="291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D10CC8-3F27-0753-4434-F97915DEE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ZA" sz="4600"/>
              <a:t>Section B: RESTful API Endpoint Plan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1B8B3-13C5-69DB-0D38-A7BC07D85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lvl="0"/>
            <a:r>
              <a:rPr lang="en-ZA" sz="1700" b="1"/>
              <a:t>Total Endpoints Planned:</a:t>
            </a:r>
            <a:r>
              <a:rPr lang="en-ZA" sz="1700"/>
              <a:t> 25+</a:t>
            </a:r>
          </a:p>
          <a:p>
            <a:pPr lvl="0"/>
            <a:r>
              <a:rPr lang="en-ZA" sz="1700" b="1"/>
              <a:t>Structure:</a:t>
            </a:r>
            <a:r>
              <a:rPr lang="en-ZA" sz="1700"/>
              <a:t> RESTful architecture using standard HTTP methods (GET, POST, PUT, DELETE).</a:t>
            </a:r>
          </a:p>
          <a:p>
            <a:pPr lvl="0"/>
            <a:r>
              <a:rPr lang="en-ZA" sz="1700" b="1"/>
              <a:t>Security:</a:t>
            </a:r>
            <a:r>
              <a:rPr lang="en-ZA" sz="1700"/>
              <a:t> Role-Based Access Control (RBAC) integrated into every endpoint.</a:t>
            </a:r>
          </a:p>
          <a:p>
            <a:pPr lvl="0"/>
            <a:r>
              <a:rPr lang="en-ZA" sz="1700" b="1"/>
              <a:t>Categories Covered:</a:t>
            </a:r>
            <a:endParaRPr lang="en-ZA" sz="1700"/>
          </a:p>
          <a:p>
            <a:pPr lvl="1"/>
            <a:r>
              <a:rPr lang="en-ZA" sz="1700"/>
              <a:t>Authentication &amp; User Profiles</a:t>
            </a:r>
          </a:p>
          <a:p>
            <a:pPr lvl="1"/>
            <a:r>
              <a:rPr lang="en-ZA" sz="1700"/>
              <a:t>Organisers &amp; Events</a:t>
            </a:r>
          </a:p>
          <a:p>
            <a:pPr lvl="1"/>
            <a:r>
              <a:rPr lang="en-ZA" sz="1700"/>
              <a:t>Categories &amp; Enrollments</a:t>
            </a:r>
          </a:p>
          <a:p>
            <a:pPr lvl="1"/>
            <a:r>
              <a:rPr lang="en-ZA" sz="1700"/>
              <a:t>Results</a:t>
            </a:r>
          </a:p>
          <a:p>
            <a:endParaRPr lang="en-ZA" sz="1700"/>
          </a:p>
        </p:txBody>
      </p:sp>
      <p:pic>
        <p:nvPicPr>
          <p:cNvPr id="7" name="Graphic 6" descr="Server">
            <a:extLst>
              <a:ext uri="{FF2B5EF4-FFF2-40B4-BE49-F238E27FC236}">
                <a16:creationId xmlns:a16="http://schemas.microsoft.com/office/drawing/2014/main" id="{860D65B7-F5D5-DDB9-8802-A60AE40AD0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  <p:pic>
        <p:nvPicPr>
          <p:cNvPr id="6" name="Video 5">
            <a:hlinkClick r:id="" action="ppaction://media"/>
            <a:extLst>
              <a:ext uri="{FF2B5EF4-FFF2-40B4-BE49-F238E27FC236}">
                <a16:creationId xmlns:a16="http://schemas.microsoft.com/office/drawing/2014/main" id="{4FAB0BFF-1A61-2F6B-AA0F-AA580B0B7E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3891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102"/>
    </mc:Choice>
    <mc:Fallback>
      <p:transition spd="slow" advTm="251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E6ABA-EBEA-D920-9126-5FBF74495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ZA">
                <a:solidFill>
                  <a:srgbClr val="FFFFFF"/>
                </a:solidFill>
              </a:rPr>
              <a:t>Key API Endpoints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C74BE-6BDD-4D86-7249-A409563DE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lvl="0"/>
            <a:r>
              <a:rPr lang="en-ZA" b="1" dirty="0"/>
              <a:t>Auth:</a:t>
            </a:r>
            <a:r>
              <a:rPr lang="en-ZA" dirty="0"/>
              <a:t> POST /</a:t>
            </a:r>
            <a:r>
              <a:rPr lang="en-ZA" dirty="0" err="1"/>
              <a:t>api</a:t>
            </a:r>
            <a:r>
              <a:rPr lang="en-ZA" dirty="0"/>
              <a:t>/auth/register, POST /</a:t>
            </a:r>
            <a:r>
              <a:rPr lang="en-ZA" dirty="0" err="1"/>
              <a:t>api</a:t>
            </a:r>
            <a:r>
              <a:rPr lang="en-ZA" dirty="0"/>
              <a:t>/auth/login</a:t>
            </a:r>
          </a:p>
          <a:p>
            <a:pPr lvl="0"/>
            <a:r>
              <a:rPr lang="en-ZA" b="1" dirty="0"/>
              <a:t>Events:</a:t>
            </a:r>
            <a:endParaRPr lang="en-ZA" dirty="0"/>
          </a:p>
          <a:p>
            <a:pPr lvl="1"/>
            <a:r>
              <a:rPr lang="en-ZA" dirty="0"/>
              <a:t>GET /</a:t>
            </a:r>
            <a:r>
              <a:rPr lang="en-ZA" dirty="0" err="1"/>
              <a:t>api</a:t>
            </a:r>
            <a:r>
              <a:rPr lang="en-ZA" dirty="0"/>
              <a:t>/events (Public)</a:t>
            </a:r>
          </a:p>
          <a:p>
            <a:pPr lvl="1"/>
            <a:r>
              <a:rPr lang="en-ZA" dirty="0"/>
              <a:t>POST /</a:t>
            </a:r>
            <a:r>
              <a:rPr lang="en-ZA" dirty="0" err="1"/>
              <a:t>api</a:t>
            </a:r>
            <a:r>
              <a:rPr lang="en-ZA" dirty="0"/>
              <a:t>/events (Organiser only)</a:t>
            </a:r>
          </a:p>
          <a:p>
            <a:pPr lvl="0"/>
            <a:r>
              <a:rPr lang="en-ZA" b="1" dirty="0" err="1"/>
              <a:t>Enrollments</a:t>
            </a:r>
            <a:r>
              <a:rPr lang="en-ZA" b="1" dirty="0"/>
              <a:t>:</a:t>
            </a:r>
            <a:endParaRPr lang="en-ZA" dirty="0"/>
          </a:p>
          <a:p>
            <a:pPr lvl="1"/>
            <a:r>
              <a:rPr lang="en-ZA" dirty="0"/>
              <a:t>POST /</a:t>
            </a:r>
            <a:r>
              <a:rPr lang="en-ZA" dirty="0" err="1"/>
              <a:t>api</a:t>
            </a:r>
            <a:r>
              <a:rPr lang="en-ZA" dirty="0"/>
              <a:t>/events/{id}/categories/{id}/</a:t>
            </a:r>
            <a:r>
              <a:rPr lang="en-ZA" dirty="0" err="1"/>
              <a:t>enroll</a:t>
            </a:r>
            <a:r>
              <a:rPr lang="en-ZA" dirty="0"/>
              <a:t> (Participant)</a:t>
            </a:r>
          </a:p>
          <a:p>
            <a:pPr lvl="0"/>
            <a:r>
              <a:rPr lang="en-ZA" b="1" dirty="0"/>
              <a:t>Results:</a:t>
            </a:r>
            <a:endParaRPr lang="en-ZA" dirty="0"/>
          </a:p>
          <a:p>
            <a:pPr lvl="1"/>
            <a:r>
              <a:rPr lang="en-ZA" dirty="0"/>
              <a:t>POST /</a:t>
            </a:r>
            <a:r>
              <a:rPr lang="en-ZA" dirty="0" err="1"/>
              <a:t>api</a:t>
            </a:r>
            <a:r>
              <a:rPr lang="en-ZA" dirty="0"/>
              <a:t>/</a:t>
            </a:r>
            <a:r>
              <a:rPr lang="en-ZA" dirty="0" err="1"/>
              <a:t>enrollments</a:t>
            </a:r>
            <a:r>
              <a:rPr lang="en-ZA" dirty="0"/>
              <a:t>/{id}/result (Organiser)</a:t>
            </a:r>
          </a:p>
          <a:p>
            <a:pPr lvl="1"/>
            <a:r>
              <a:rPr lang="en-ZA" dirty="0"/>
              <a:t>GET /</a:t>
            </a:r>
            <a:r>
              <a:rPr lang="en-ZA" dirty="0" err="1"/>
              <a:t>api</a:t>
            </a:r>
            <a:r>
              <a:rPr lang="en-ZA" dirty="0"/>
              <a:t>/participants/results (Participant)</a:t>
            </a:r>
          </a:p>
          <a:p>
            <a:endParaRPr lang="en-ZA" dirty="0"/>
          </a:p>
        </p:txBody>
      </p:sp>
      <p:pic>
        <p:nvPicPr>
          <p:cNvPr id="6" name="Video 5">
            <a:hlinkClick r:id="" action="ppaction://media"/>
            <a:extLst>
              <a:ext uri="{FF2B5EF4-FFF2-40B4-BE49-F238E27FC236}">
                <a16:creationId xmlns:a16="http://schemas.microsoft.com/office/drawing/2014/main" id="{6AC681E6-E3AE-0955-379C-1B3EB5805F0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06115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679"/>
    </mc:Choice>
    <mc:Fallback>
      <p:transition spd="slow" advTm="226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6BB8C-9CAE-8840-720C-E5D101B0A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Section C: SQL Database Schema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FBEBC-57A4-4A3A-1F1B-26D2B1700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 indent="-228600">
              <a:buFont typeface="Arial" panose="020B0604020202020204" pitchFamily="34" charset="0"/>
              <a:buChar char="•"/>
            </a:pPr>
            <a:r>
              <a:rPr lang="en-US" sz="2000" b="1"/>
              <a:t>Database Engine:</a:t>
            </a:r>
            <a:r>
              <a:rPr lang="en-US" sz="2000"/>
              <a:t> SQL Server (SSMS)</a:t>
            </a:r>
          </a:p>
          <a:p>
            <a:pPr lvl="0" indent="-228600">
              <a:buFont typeface="Arial" panose="020B0604020202020204" pitchFamily="34" charset="0"/>
              <a:buChar char="•"/>
            </a:pPr>
            <a:r>
              <a:rPr lang="en-US" sz="2000" b="1"/>
              <a:t>Script Features:</a:t>
            </a:r>
            <a:endParaRPr lang="en-US" sz="2000"/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2000"/>
              <a:t>Database creation (CREATE DATABASE RaceDayDB)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2000"/>
              <a:t>7 CREATE TABLE statements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2000"/>
              <a:t>Strict Constraints: PRIMARY KEY, FOREIGN KEY, NOT NULL, UNIQUE, CHECK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2000"/>
              <a:t>Data Seeding: INSERT statements with realistic sample data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EF2C957-1023-C0AB-B8B3-EBE60CC1CF3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0" b="4530"/>
          <a:stretch>
            <a:fillRect/>
          </a:stretch>
        </p:blipFill>
        <p:spPr>
          <a:xfrm>
            <a:off x="6099048" y="1275698"/>
            <a:ext cx="5458968" cy="4306603"/>
          </a:xfrm>
          <a:prstGeom prst="rect">
            <a:avLst/>
          </a:prstGeom>
        </p:spPr>
      </p:pic>
      <p:pic>
        <p:nvPicPr>
          <p:cNvPr id="7" name="Video 6">
            <a:hlinkClick r:id="" action="ppaction://media"/>
            <a:extLst>
              <a:ext uri="{FF2B5EF4-FFF2-40B4-BE49-F238E27FC236}">
                <a16:creationId xmlns:a16="http://schemas.microsoft.com/office/drawing/2014/main" id="{49A10E3D-4884-16DF-542A-18712F6A8E9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01959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861"/>
    </mc:Choice>
    <mc:Fallback>
      <p:transition spd="slow" advTm="428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68F57-8B72-4949-6804-3D19C3B9A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ZA">
                <a:solidFill>
                  <a:srgbClr val="FFFFFF"/>
                </a:solidFill>
              </a:rPr>
              <a:t>Ensuring Data Integrity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7662E-0920-221E-51C3-3F532AB9F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lvl="0"/>
            <a:r>
              <a:rPr lang="en-ZA" b="1"/>
              <a:t>Referential Integrity:</a:t>
            </a:r>
            <a:r>
              <a:rPr lang="en-ZA"/>
              <a:t> Foreign Keys with ON DELETE CASCADE to prevent orphaned records.</a:t>
            </a:r>
          </a:p>
          <a:p>
            <a:pPr lvl="0"/>
            <a:r>
              <a:rPr lang="en-ZA" b="1"/>
              <a:t>Cascade Path Fix:</a:t>
            </a:r>
            <a:r>
              <a:rPr lang="en-ZA"/>
              <a:t> Adjusted the Enrollment table to use NO ACTION on the Participant link to prevent SQL Server's "multiple cascade paths" error.</a:t>
            </a:r>
          </a:p>
          <a:p>
            <a:pPr lvl="0"/>
            <a:r>
              <a:rPr lang="en-ZA" b="1"/>
              <a:t>Business Rules via CHECK Constraints:</a:t>
            </a:r>
            <a:endParaRPr lang="en-ZA"/>
          </a:p>
          <a:p>
            <a:pPr lvl="1"/>
            <a:r>
              <a:rPr lang="en-ZA"/>
              <a:t>Role IN ('Admin', 'Organiser', 'Participant')</a:t>
            </a:r>
          </a:p>
          <a:p>
            <a:pPr lvl="1"/>
            <a:r>
              <a:rPr lang="en-ZA"/>
              <a:t>Gender IN ('Male', 'Female', 'Other')</a:t>
            </a:r>
          </a:p>
          <a:p>
            <a:pPr lvl="1"/>
            <a:r>
              <a:rPr lang="en-ZA"/>
              <a:t>PaymentStatus IN ('Pending', 'Paid', 'Refunded')</a:t>
            </a:r>
          </a:p>
          <a:p>
            <a:endParaRPr lang="en-ZA"/>
          </a:p>
        </p:txBody>
      </p:sp>
      <p:pic>
        <p:nvPicPr>
          <p:cNvPr id="6" name="Video 5">
            <a:hlinkClick r:id="" action="ppaction://media"/>
            <a:extLst>
              <a:ext uri="{FF2B5EF4-FFF2-40B4-BE49-F238E27FC236}">
                <a16:creationId xmlns:a16="http://schemas.microsoft.com/office/drawing/2014/main" id="{D3E6BC0B-F870-107D-ADDC-07D7DAD6A41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45065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752"/>
    </mc:Choice>
    <mc:Fallback>
      <p:transition spd="slow" advTm="287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275EFF-C62C-5470-885E-759FBD5C6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ZA">
                <a:solidFill>
                  <a:srgbClr val="FFFFFF"/>
                </a:solidFill>
              </a:rPr>
              <a:t>Sample Data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1F3C0-6804-2110-471D-A53627EE2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lvl="0"/>
            <a:r>
              <a:rPr lang="en-ZA" b="1" dirty="0"/>
              <a:t>Users:</a:t>
            </a:r>
            <a:r>
              <a:rPr lang="en-ZA" dirty="0"/>
              <a:t> 6 seeded users (2 Organisers, 4 Participants)</a:t>
            </a:r>
          </a:p>
          <a:p>
            <a:pPr lvl="0"/>
            <a:r>
              <a:rPr lang="en-ZA" b="1" dirty="0"/>
              <a:t>Events:</a:t>
            </a:r>
            <a:r>
              <a:rPr lang="en-ZA" dirty="0"/>
              <a:t> 3 seeded events (Cape Town Marathon, Joburg 10K, Durban Charity Run)</a:t>
            </a:r>
          </a:p>
          <a:p>
            <a:pPr lvl="0"/>
            <a:r>
              <a:rPr lang="en-ZA" b="1" dirty="0"/>
              <a:t>Categories:</a:t>
            </a:r>
            <a:r>
              <a:rPr lang="en-ZA" dirty="0"/>
              <a:t> 9 categories across the 3 events</a:t>
            </a:r>
          </a:p>
          <a:p>
            <a:pPr lvl="0"/>
            <a:r>
              <a:rPr lang="en-ZA" b="1" dirty="0" err="1"/>
              <a:t>Enrollments</a:t>
            </a:r>
            <a:r>
              <a:rPr lang="en-ZA" b="1" dirty="0"/>
              <a:t> &amp; Results:</a:t>
            </a:r>
            <a:r>
              <a:rPr lang="en-ZA" dirty="0"/>
              <a:t> 9 sample </a:t>
            </a:r>
            <a:r>
              <a:rPr lang="en-ZA" dirty="0" err="1"/>
              <a:t>enrollments</a:t>
            </a:r>
            <a:r>
              <a:rPr lang="en-ZA" dirty="0"/>
              <a:t> with 8 recorded race results.</a:t>
            </a:r>
          </a:p>
          <a:p>
            <a:pPr lvl="0"/>
            <a:r>
              <a:rPr lang="en-ZA" b="1" dirty="0"/>
              <a:t>Purpose:</a:t>
            </a:r>
            <a:r>
              <a:rPr lang="en-ZA" dirty="0"/>
              <a:t> Allows immediate testing of the API in Part 2 without manual data entry.</a:t>
            </a:r>
          </a:p>
          <a:p>
            <a:endParaRPr lang="en-ZA" dirty="0"/>
          </a:p>
        </p:txBody>
      </p:sp>
      <p:pic>
        <p:nvPicPr>
          <p:cNvPr id="6" name="Video 5">
            <a:hlinkClick r:id="" action="ppaction://media"/>
            <a:extLst>
              <a:ext uri="{FF2B5EF4-FFF2-40B4-BE49-F238E27FC236}">
                <a16:creationId xmlns:a16="http://schemas.microsoft.com/office/drawing/2014/main" id="{E59CED75-A365-D63A-D157-809DB0C8E1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42048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666"/>
    </mc:Choice>
    <mc:Fallback>
      <p:transition spd="slow" advTm="236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368887-9D2D-784D-C74F-7596AF147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ZA">
                <a:solidFill>
                  <a:srgbClr val="FFFFFF"/>
                </a:solidFill>
              </a:rPr>
              <a:t>Conclusion and Next Steps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1511F-5D2C-58D7-5616-59909D789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lvl="0"/>
            <a:r>
              <a:rPr lang="en-ZA" b="1" dirty="0"/>
              <a:t>Planning Complete:</a:t>
            </a:r>
            <a:r>
              <a:rPr lang="en-ZA" dirty="0"/>
              <a:t> The foundation for the </a:t>
            </a:r>
            <a:r>
              <a:rPr lang="en-ZA" dirty="0" err="1"/>
              <a:t>RaceDay</a:t>
            </a:r>
            <a:r>
              <a:rPr lang="en-ZA" dirty="0"/>
              <a:t> system is solid, scalable, and fully documented.</a:t>
            </a:r>
          </a:p>
          <a:p>
            <a:pPr lvl="0"/>
            <a:r>
              <a:rPr lang="en-ZA" b="1" dirty="0"/>
              <a:t>Documentation:</a:t>
            </a:r>
            <a:r>
              <a:rPr lang="en-ZA" dirty="0"/>
              <a:t> All files (ERD.png, API_Plan.md, </a:t>
            </a:r>
            <a:r>
              <a:rPr lang="en-ZA" dirty="0" err="1"/>
              <a:t>RaceDayDB_Script.sql</a:t>
            </a:r>
            <a:r>
              <a:rPr lang="en-ZA" dirty="0"/>
              <a:t>) are committed to the /docs folder in the GitHub repository.</a:t>
            </a:r>
          </a:p>
          <a:p>
            <a:pPr lvl="0"/>
            <a:r>
              <a:rPr lang="en-ZA" b="1" dirty="0"/>
              <a:t>Next Steps (Part 2):</a:t>
            </a:r>
            <a:endParaRPr lang="en-ZA" dirty="0"/>
          </a:p>
          <a:p>
            <a:pPr lvl="1"/>
            <a:r>
              <a:rPr lang="en-ZA" dirty="0"/>
              <a:t>Implement the ASP.NET Core Web API.</a:t>
            </a:r>
          </a:p>
          <a:p>
            <a:pPr lvl="1"/>
            <a:r>
              <a:rPr lang="en-ZA" dirty="0"/>
              <a:t>Build the Controllers and Services based on the API plan.</a:t>
            </a:r>
          </a:p>
          <a:p>
            <a:pPr lvl="1"/>
            <a:r>
              <a:rPr lang="en-ZA" dirty="0"/>
              <a:t>Connect the API to the </a:t>
            </a:r>
            <a:r>
              <a:rPr lang="en-ZA" dirty="0" err="1"/>
              <a:t>RaceDayDB</a:t>
            </a:r>
            <a:r>
              <a:rPr lang="en-ZA" dirty="0"/>
              <a:t> SQL database.</a:t>
            </a:r>
          </a:p>
          <a:p>
            <a:endParaRPr lang="en-ZA" dirty="0"/>
          </a:p>
        </p:txBody>
      </p:sp>
      <p:pic>
        <p:nvPicPr>
          <p:cNvPr id="17" name="Video 16">
            <a:hlinkClick r:id="" action="ppaction://media"/>
            <a:extLst>
              <a:ext uri="{FF2B5EF4-FFF2-40B4-BE49-F238E27FC236}">
                <a16:creationId xmlns:a16="http://schemas.microsoft.com/office/drawing/2014/main" id="{4F02FAC9-BAEF-C3BE-2104-74CB6A285C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31309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298"/>
    </mc:Choice>
    <mc:Fallback>
      <p:transition spd="slow" advTm="192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719</Words>
  <Application>Microsoft Office PowerPoint</Application>
  <PresentationFormat>Widescreen</PresentationFormat>
  <Paragraphs>80</Paragraphs>
  <Slides>11</Slides>
  <Notes>0</Notes>
  <HiddenSlides>0</HiddenSlides>
  <MMClips>11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RaceDay System Planning and Database Design</vt:lpstr>
      <vt:lpstr>System Overview</vt:lpstr>
      <vt:lpstr>Section A: ERD</vt:lpstr>
      <vt:lpstr>Entities and Attributes</vt:lpstr>
      <vt:lpstr>Relationships and Cardinalities</vt:lpstr>
      <vt:lpstr>Section B: RESTful API Endpoint Plan</vt:lpstr>
      <vt:lpstr>Key API Endpoints</vt:lpstr>
      <vt:lpstr>Section C: SQL Database Schema</vt:lpstr>
      <vt:lpstr>Ensuring Data Integrity</vt:lpstr>
      <vt:lpstr>Sample Data</vt:lpstr>
      <vt:lpstr>Conclusion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Boikanyo Pearl Maleka</dc:creator>
  <cp:lastModifiedBy>Boikanyo Pearl Maleka</cp:lastModifiedBy>
  <cp:revision>2</cp:revision>
  <dcterms:created xsi:type="dcterms:W3CDTF">2026-09-03T16:52:05Z</dcterms:created>
  <dcterms:modified xsi:type="dcterms:W3CDTF">2026-09-03T23:10:12Z</dcterms:modified>
</cp:coreProperties>
</file>